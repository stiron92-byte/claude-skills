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인하 3.50%</c:v>
                </c:pt>
              </c:strCache>
            </c:strRef>
          </c:tx>
          <c:spPr>
            <a:solidFill>
              <a:srgbClr val="E88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3/18</c:v>
                  </c:pt>
                  <c:pt idx="1">
                    <c:v>4/29</c:v>
                  </c:pt>
                  <c:pt idx="2">
                    <c:v>6/17</c:v>
                  </c:pt>
                  <c:pt idx="3">
                    <c:v>7/29</c:v>
                  </c:pt>
                  <c:pt idx="4">
                    <c:v>9/16</c:v>
                  </c:pt>
                  <c:pt idx="5">
                    <c:v>10/28</c:v>
                  </c:pt>
                  <c:pt idx="6">
                    <c:v>12/9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99</c:v>
                </c:pt>
                <c:pt idx="1">
                  <c:v>96</c:v>
                </c:pt>
                <c:pt idx="2">
                  <c:v>80</c:v>
                </c:pt>
                <c:pt idx="3">
                  <c:v>66</c:v>
                </c:pt>
                <c:pt idx="4">
                  <c:v>58</c:v>
                </c:pt>
                <c:pt idx="5">
                  <c:v>57</c:v>
                </c:pt>
                <c:pt idx="6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동결 3.75%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3/18</c:v>
                  </c:pt>
                  <c:pt idx="1">
                    <c:v>4/29</c:v>
                  </c:pt>
                  <c:pt idx="2">
                    <c:v>6/17</c:v>
                  </c:pt>
                  <c:pt idx="3">
                    <c:v>7/29</c:v>
                  </c:pt>
                  <c:pt idx="4">
                    <c:v>9/16</c:v>
                  </c:pt>
                  <c:pt idx="5">
                    <c:v>10/28</c:v>
                  </c:pt>
                  <c:pt idx="6">
                    <c:v>12/9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4</c:v>
                </c:pt>
                <c:pt idx="2">
                  <c:v>20</c:v>
                </c:pt>
                <c:pt idx="3">
                  <c:v>30</c:v>
                </c:pt>
                <c:pt idx="4">
                  <c:v>34</c:v>
                </c:pt>
                <c:pt idx="5">
                  <c:v>35</c:v>
                </c:pt>
                <c:pt idx="6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443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외환시장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전망 보고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 급등에 이어 이제는 글로벌 물가 상승도 경계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3월 16일 기준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KB국민은행 주간 외환/스왑 전망 보고서 기반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651760" cy="2560320"/>
          </a:xfrm>
          <a:prstGeom prst="rect">
            <a:avLst/>
          </a:prstGeom>
          <a:solidFill>
            <a:srgbClr val="0F24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USD/KRW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1,493.70</a:t>
            </a:r>
            <a:endParaRPr lang="en-US" sz="3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46888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2376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4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+17.30 (주간)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17920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예상: 1,470 ~ 1,510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달러/원 환율 방향성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4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판단: 상방 압력 우세 (1,470 ~ 1,510원)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749040" cy="3200400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556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645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환율 상승(원화 약세) 전망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2377440"/>
            <a:ext cx="320040" cy="3200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2350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중동 전쟁 지속 + 유가 급등 → 달러 강세 요인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3017520"/>
            <a:ext cx="320040" cy="3200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71600" y="2990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 연준 FOMC 매파적 전환, 금리 인하 기대 후퇴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657600"/>
            <a:ext cx="320040" cy="3200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7160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모델도 1개월 내 1,500원 도달 예측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Fed Watch: 연내 금리 동결 전망 우세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846320" y="1874520"/>
          <a:ext cx="36576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 17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KB국민은행 주간 외환/스왑 전망 보고서 (2026.3.16), Fed Watch (3.13일)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무역회사 핵심 리스크 요인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금주 특히 주의해야 할 3대 리스크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468880" cy="2926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2468880" cy="54864"/>
          </a:xfrm>
          <a:prstGeom prst="rect">
            <a:avLst/>
          </a:prstGeom>
          <a:solidFill>
            <a:srgbClr val="D4443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D444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5564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645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4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 급등 리스크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WTI 100달러 돌파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중동 전쟁 격화로 유가가 배럴당 100달러를 돌파. 원자재 수입 비용이 직접적으로 상승하며, 수입 결제 시 달러 수요 증가로 환율 추가 상승 압력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D44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호르무즈 해협 봉쇄 우려까지 겹쳐 에너지 수입 차질 가능성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325880"/>
            <a:ext cx="2468880" cy="2926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325880"/>
            <a:ext cx="2468880" cy="54864"/>
          </a:xfrm>
          <a:prstGeom prst="rect">
            <a:avLst/>
          </a:prstGeom>
          <a:solidFill>
            <a:srgbClr val="E8853D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1645920"/>
            <a:ext cx="502920" cy="502920"/>
          </a:xfrm>
          <a:prstGeom prst="ellipse">
            <a:avLst/>
          </a:prstGeom>
          <a:solidFill>
            <a:srgbClr val="E8853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75564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51960" y="1645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환율 변동성 확대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23317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변동폭 1,460 → 1,490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주 만에 30원 이상 등락. 중동 뉴스에 따라 환율이 급변하여 수출입 대금 정산 시 환차손 리스크가 크게 확대됨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E88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FOMC, ECB, BOE 등 통화정책 이벤트가 집중되어 변동성 지속 예상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325880"/>
            <a:ext cx="2468880" cy="2926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325880"/>
            <a:ext cx="246888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Shape 15"/>
          <p:cNvSpPr/>
          <p:nvPr/>
        </p:nvSpPr>
        <p:spPr>
          <a:xfrm>
            <a:off x="6400800" y="164592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7556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40880" y="1645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긴축 전환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55080" y="23317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선진국 금리 인상 / 동결 기조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호주 RBA 2개월 연속 인상, 미 연준 금리 동결 전망 우세. 유가발 인플레이션으로 글로벌 통화정책이 긴축 방향 전환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B3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무역금융 조달 비용 상승 및 신흥국 자금 유출 가능성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KB국민은행 주간 외환/스왑 전망 보고서 (2026.3.16)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통화별 환율 예상 범위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097280"/>
                <a:gridCol w="1645920"/>
                <a:gridCol w="164592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 마감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변동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예상 범위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예상 범위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연초 대비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4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USD/KRW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1,493.70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4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+17.30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4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1,470 ~ 1,510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1,420 ~ 1,520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4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+3.60%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USD/JPY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157.0~160.0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157.0 ~ 160.0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150.0 ~ 162.0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EUR/USD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1.145~1.170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1.145 ~ 1.170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1.145 ~ 1.190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USD/CNY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6.880~6.930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6.880 ~ 6.930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6.800 ~ 6.950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00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 스왑(IRS) / 통화 스왑(CRS) 동향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전주 마감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변동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1개월%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연초 대비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원화 IRS 3Y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3.458%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4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+15.25bp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+0.19%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+0.44%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원화 CRS 3Y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2.825%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4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+13.00bp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+0.24%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2026.3.13 종가 (1bp = 0.01%p)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무역회사 대응 전략 제안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1554480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" cy="155448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 헤지 강화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환율 상승 추세에서 선물환 매도 또는 통화옵션 매입을 통해 수입 결제 환리스크를 적극 관리할 필요. 특히 1,500원 이상 구간에 대비한 헤지 비율 확대 검토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3840480" cy="1554480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97280"/>
            <a:ext cx="64008" cy="155448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타이밍 조정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83480" y="1691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수출 대금은 조기 회수, 수입 대금은 환율 하락 시점 집중 결제 전략 검토. 이번 주 FOMC 결과 발표(18~19일) 전후로 환율 변동이 클 수 있어 결제 시점 분산 필요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880360"/>
            <a:ext cx="3840480" cy="1554480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880360"/>
            <a:ext cx="64008" cy="155448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632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 연동 원가 모니터링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34747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WTI 100달러 돌파에 따른 원자재·물류비 상승을 원가에 즉시 반영. 에너지 수입 비중이 높은 품목의 경우 대체 공급선 및 재고 확보 전략 마련 필요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2880360"/>
            <a:ext cx="3840480" cy="1554480"/>
          </a:xfrm>
          <a:prstGeom prst="rect">
            <a:avLst/>
          </a:prstGeom>
          <a:solidFill>
            <a:srgbClr val="EBF1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880360"/>
            <a:ext cx="64008" cy="155448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632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다변화 검토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83480" y="34747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달러 외 유로·위안 등 결제 통화 다변화로 달러 집중 리스크 완화. 위안화는 비교적 안정적 움직임(6.880~6.930)으로 중국 거래선과의 위안 결제 확대도 고려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전략은 KB국민은행 보고서의 시장 전망을 참고한 제안이며, 최종 의사결정은 사내 리스크 관리 기준에 따라 판단 바랍니다.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44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KB국민은행 '주간 외환 및 스왑 시장 전망' (2026.3.16)을 기반으로 작성되었습니다.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상황에 따라 전망이 변경될 수 있으며, 투자 판단의 최종 책임은 본인에게 있습니다.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문의: KB국민은행 자본시장사업그룹 | 문정희 이코노미스트 +82-2-2073-8477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주간 외환시장 전망 보고</dc:title>
  <dc:subject>PptxGenJS Presentation</dc:subject>
  <dc:creator>FX Weekly Analysis</dc:creator>
  <cp:lastModifiedBy>FX Weekly Analysis</cp:lastModifiedBy>
  <cp:revision>1</cp:revision>
  <dcterms:created xsi:type="dcterms:W3CDTF">2026-03-25T02:56:23Z</dcterms:created>
  <dcterms:modified xsi:type="dcterms:W3CDTF">2026-03-25T02:56:23Z</dcterms:modified>
</cp:coreProperties>
</file>