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9728" cy="3200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주간 외환/스왑 전망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주간 외환 및 스왑 시장 전망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BC00"/>
                </a:solidFill>
              </a:defRPr>
            </a:pPr>
            <a:r>
              <a:t>유가 급등에 이어 이제는 글로벌 물가 상승도 경계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114800"/>
            <a:ext cx="3657600" cy="18288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2026. 3. 16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KB국민은행 자본시장사업그룹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주간 전망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KB국민은행 | 주간 외환/스왑 전망 보고서 | 2026.3.16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471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444752"/>
            <a:ext cx="109728" cy="109728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지난 한 주 동안 국내 금융시장과 외환시장에서는 중동 전쟁 소식과 국제유가 등락에 출렁이는 모습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1828800"/>
            <a:ext cx="109728" cy="109728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주 초반 미국 트럼프 대통령의 전쟁 종료 가능성 → 환율 1,460원대까지 하락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212848"/>
            <a:ext cx="109728" cy="109728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1396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이후 이란의 강경 대응 소식과 국제유가 급등 → 1,490원대까지 상승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596896"/>
            <a:ext cx="109728" cy="109728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5237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이번 주 호주, 캐나다, 미국, 유로존, 영국 등 주요 선진국 통화정책회의 예정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2980944"/>
            <a:ext cx="109728" cy="109728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90779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유가 상승 → 물가상승 → 선진국 통화정책 긴축 선회 가능성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137160" cy="32004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39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</a:defRPr>
            </a:pPr>
            <a:r>
              <a:t>핵심 키워드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25603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중동 지정학 리스크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114800"/>
            <a:ext cx="25603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</a:defRPr>
            </a:pPr>
            <a:r>
              <a:t>유가 급등 (WTI $100+)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114800"/>
            <a:ext cx="25603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8E"/>
                </a:solidFill>
              </a:defRPr>
            </a:pPr>
            <a:r>
              <a:t>매파적 FOMC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4114800"/>
            <a:ext cx="25603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글로벌 물가 상승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137160" cy="32004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10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</a:defRPr>
            </a:pPr>
            <a:r>
              <a:t>이번 주 주요 이벤트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8E"/>
                </a:solidFill>
              </a:defRPr>
            </a:pPr>
            <a:r>
              <a:t>3/17 (월)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호주 RBA 통화정책회의 — 금리 인상 전망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8E"/>
                </a:solidFill>
              </a:defRPr>
            </a:pPr>
            <a:r>
              <a:t>3/18~19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미국 FOMC 정례회의 — 금리 동결 전망 우세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8E"/>
                </a:solidFill>
              </a:defRPr>
            </a:pPr>
            <a:r>
              <a:t>3/19~20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6126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유로 ECB / 영국 BOE 회의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주간 환율 예상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KB국민은행 | 주간 외환/스왑 전망 보고서 | 2026.3.16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37160" cy="32004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789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</a:defRPr>
            </a:pPr>
            <a:r>
              <a:t>환율 예상 범위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94360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5760720" cy="36576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733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통화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6733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주간 예상 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6733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월간('26.3) 예상 범위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6733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방향성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57400"/>
            <a:ext cx="576072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USD/KRW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103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1,470 ~ 1,510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103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1,420 ~ 1,520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103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▲ 상방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560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USD/JPY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560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157.0 ~ 160.0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60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150.0 ~ 162.0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560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392B"/>
                </a:solidFill>
              </a:defRPr>
            </a:pPr>
            <a:r>
              <a:t>▲ 상방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71800"/>
            <a:ext cx="576072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EUR/USD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1.145 ~ 1.170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1.145 ~ 1.190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017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AE60"/>
                </a:solidFill>
              </a:defRPr>
            </a:pPr>
            <a:r>
              <a:t>▼ 하방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USD/CNY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3474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6.880 ~ 6.930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474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6.800 ~ 6.950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474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— 보합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1097280"/>
            <a:ext cx="137160" cy="32004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10789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</a:defRPr>
            </a:pPr>
            <a:r>
              <a:t>통화별 전망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1554480"/>
            <a:ext cx="48463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USD/KRW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196596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중동 전쟁과 유가 등락, '매파적' 연준 성향 감안 → 상방 압력 예상. 고유가 부담과 정책 불확실성이 환율 상방 요인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2743200"/>
            <a:ext cx="48463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</a:defRPr>
            </a:pPr>
            <a:r>
              <a:t>USD/JPY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15468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국제유가에 동조, 미 연준 통화정책 영향. 정부 구두 개입 예상되나 엔화 약세 방어 어려울 전망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3931920"/>
            <a:ext cx="48463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4023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8E"/>
                </a:solidFill>
              </a:defRPr>
            </a:pPr>
            <a:r>
              <a:t>EUR/USD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34340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유가·물가 상승 우려 반영, 2022년 러-우 전쟁 당시와 유사. ECB 정책 여력 제한적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0" y="5120640"/>
            <a:ext cx="48463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USD/CNY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53212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비교적 변동성 크지 않음. 정부 경기 진작 기대와 시장 안정 조치로 안정적 전망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480560"/>
            <a:ext cx="137160" cy="32004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4622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</a:defRPr>
            </a:pPr>
            <a:r>
              <a:t>Fed Watch — 미국 연준 금리 전망</a:t>
            </a:r>
          </a:p>
        </p:txBody>
      </p:sp>
      <p:pic>
        <p:nvPicPr>
          <p:cNvPr id="49" name="Picture 48" descr="fed_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46320"/>
            <a:ext cx="594360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기간별 환율 및 스왑 금리 변동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KB국민은행 | 주간 외환/스왑 전망 보고서 | 2026.3.16  |  비고: 2026.3.13 종가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37160" cy="32004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78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</a:defRPr>
            </a:pPr>
            <a:r>
              <a:t>환율 및 스왑 변동 현황 (2026.3.13 종가 기준)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54480"/>
            <a:ext cx="11430000" cy="3840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통화/스왑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737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전 주 마감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37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주간 변동폭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5일%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1개월%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737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3개월%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연초 대비%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76272"/>
            <a:ext cx="1124712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194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USDKRW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1,493.70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194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+17.30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+1.17%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+2.37%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194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+1.36%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+3.60%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517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JPYKRW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651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936.78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6517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+0.63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651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+0.07%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51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-0.25%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6517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-1.05%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+1.98%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90672"/>
            <a:ext cx="1124712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EURKRW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3108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1,714.47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+0.22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3108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+0.01%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108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-1.30%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-0.89%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+1.27%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566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CNYKRW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3566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216.79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3566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+2.80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3566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+1.31%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566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+2.70%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3566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+3.78%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+5.15%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005072"/>
            <a:ext cx="1124712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023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IRS 3YR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4023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3.458%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0" y="4023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+15.25bp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4023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+0.15%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023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+0.19%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4023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+0.32%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+0.44%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480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CRS 3YR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4480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2.825%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74720" y="4480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+13.00bp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0" y="4480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+0.13%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480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0.00%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4480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+0.26%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4480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392B"/>
                </a:solidFill>
              </a:defRPr>
            </a:pPr>
            <a:r>
              <a:t>+0.24%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486400"/>
            <a:ext cx="137160" cy="32004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54681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</a:defRPr>
            </a:pPr>
            <a:r>
              <a:t>연초 대비 변동률</a:t>
            </a:r>
          </a:p>
        </p:txBody>
      </p:sp>
      <p:pic>
        <p:nvPicPr>
          <p:cNvPr id="65" name="Picture 64" descr="rate_ch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760720"/>
            <a:ext cx="1097280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금리 스왑(IRS) 및 통화 스왑(CRS) 전망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KB국민은행 | 주간 외환/스왑 전망 보고서 | 2026.3.16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486400" cy="2560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137160" cy="32004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16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</a:defRPr>
            </a:pPr>
            <a:r>
              <a:t>금리 스왑 (IRS)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1746504"/>
            <a:ext cx="91440" cy="914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지난주 IRS 금리 전구간 급등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093976"/>
            <a:ext cx="91440" cy="914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039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WTI 유가 배럴당 $100 돌파 → 인플레이션 우려 재부각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441448"/>
            <a:ext cx="91440" cy="914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386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미국-이란 갈등 재개 → 금리 상승 지속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2788920"/>
            <a:ext cx="91440" cy="914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7340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이번주 상방 압력 지속 예상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136392"/>
            <a:ext cx="91440" cy="914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081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다만 최근 급등에 따라 상승 폭은 다소 제한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880360"/>
            <a:ext cx="1371600" cy="640080"/>
          </a:xfrm>
          <a:prstGeom prst="roundRect">
            <a:avLst/>
          </a:prstGeom>
          <a:solidFill>
            <a:srgbClr val="FFF0E0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926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▲ 상방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097280"/>
            <a:ext cx="5486400" cy="2560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234440"/>
            <a:ext cx="137160" cy="32004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216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</a:defRPr>
            </a:pPr>
            <a:r>
              <a:t>통화 스왑 (CRS)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1746504"/>
            <a:ext cx="91440" cy="91440"/>
          </a:xfrm>
          <a:prstGeom prst="ellipse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시장금리 및 IRS 금리에 연동, 전 구간 상승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2093976"/>
            <a:ext cx="91440" cy="91440"/>
          </a:xfrm>
          <a:prstGeom prst="ellipse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039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미국-이란 지정학적 리스크 + 호르무즈 해협 봉쇄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2441448"/>
            <a:ext cx="91440" cy="91440"/>
          </a:xfrm>
          <a:prstGeom prst="ellipse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386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유가 상승, 스태그플레이션 위험 극대화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2788920"/>
            <a:ext cx="91440" cy="91440"/>
          </a:xfrm>
          <a:prstGeom prst="ellipse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27340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주말 사이 전쟁 양상에 따라 변동성 확대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0" y="3136392"/>
            <a:ext cx="91440" cy="91440"/>
          </a:xfrm>
          <a:prstGeom prst="ellipse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3081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FOMC 이후 한미 금리차에 주목하며 등락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40" y="2880360"/>
            <a:ext cx="1371600" cy="640080"/>
          </a:xfrm>
          <a:prstGeom prst="roundRect">
            <a:avLst/>
          </a:prstGeom>
          <a:solidFill>
            <a:srgbClr val="E0F0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0" y="2926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8E"/>
                </a:solidFill>
              </a:defRPr>
            </a:pPr>
            <a:r>
              <a:t>▲ 상방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931920"/>
            <a:ext cx="137160" cy="32004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913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</a:defRPr>
            </a:pPr>
            <a:r>
              <a:t>AI 환율 전망 (USD/KRW)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297680"/>
            <a:ext cx="112471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2960" y="4626864"/>
            <a:ext cx="91440" cy="914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4572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3월 12일 기준 AI 모델이 과거 유사 시기(2007년 05월)를 현재와 유사하게 인식</a:t>
            </a:r>
          </a:p>
        </p:txBody>
      </p:sp>
      <p:sp>
        <p:nvSpPr>
          <p:cNvPr id="42" name="Oval 41"/>
          <p:cNvSpPr/>
          <p:nvPr/>
        </p:nvSpPr>
        <p:spPr>
          <a:xfrm>
            <a:off x="822960" y="4992624"/>
            <a:ext cx="91440" cy="914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4937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당시 달러/원 환율은 국내 증시 랠리 → 하방 압력 → 이후 당국 개입 및 수출 물량 약화로 상승</a:t>
            </a:r>
          </a:p>
        </p:txBody>
      </p:sp>
      <p:sp>
        <p:nvSpPr>
          <p:cNvPr id="44" name="Oval 43"/>
          <p:cNvSpPr/>
          <p:nvPr/>
        </p:nvSpPr>
        <p:spPr>
          <a:xfrm>
            <a:off x="822960" y="5358383"/>
            <a:ext cx="91440" cy="9144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5303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향후 1개월 달러/원 환율은 상승 흐름 예상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5577840"/>
            <a:ext cx="3200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623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현재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897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1,488원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0" y="5577840"/>
            <a:ext cx="3200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0" y="5623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AI 예측 (1개월)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5897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</a:defRPr>
            </a:pPr>
            <a:r>
              <a:t>1,500원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5577840"/>
            <a:ext cx="3200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5623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최저 예상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5897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1,439원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종합 시사점 및 주요 모니터링 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743200" cy="27432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486400" cy="2103120"/>
          </a:xfrm>
          <a:prstGeom prst="roundRect">
            <a:avLst/>
          </a:prstGeom>
          <a:solidFill>
            <a:srgbClr val="444444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중동 지정학 리스크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이란의 강경 대응과 호르무즈 해협 봉쇄 위험이 지속. 유가 급등에 따른 글로벌 인플레이션 재부각으로 각국 중앙은행의 통화정책 기조 변화 주시 필요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486400" cy="2103120"/>
          </a:xfrm>
          <a:prstGeom prst="roundRect">
            <a:avLst/>
          </a:prstGeom>
          <a:solidFill>
            <a:srgbClr val="444444"/>
          </a:solidFill>
          <a:ln w="25400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1737360"/>
            <a:ext cx="365760" cy="365760"/>
          </a:xfrm>
          <a:prstGeom prst="ellipse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556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</a:defRPr>
            </a:pPr>
            <a:r>
              <a:t>미국 FOMC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연내 금리인하 전망 약화, 금리 동결 전망이 우세. 매파적 연준 성향이 지속될 경우 달러 강세, 원화 약세 압력 가중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5486400" cy="2103120"/>
          </a:xfrm>
          <a:prstGeom prst="roundRect">
            <a:avLst/>
          </a:prstGeom>
          <a:solidFill>
            <a:srgbClr val="444444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0624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24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06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</a:defRPr>
            </a:pPr>
            <a:r>
              <a:t>환율 상방 리스크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달러/원 환율 1,470~1,510원 예상. 중동 리스크와 매파적 연준이 결합 시 추가 상승 가능. AI 모델도 1개월 후 상승 흐름 예측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5486400" cy="2103120"/>
          </a:xfrm>
          <a:prstGeom prst="roundRect">
            <a:avLst/>
          </a:prstGeom>
          <a:solidFill>
            <a:srgbClr val="444444"/>
          </a:solidFill>
          <a:ln w="25400">
            <a:solidFill>
              <a:srgbClr val="FFB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2240" y="4206240"/>
            <a:ext cx="365760" cy="365760"/>
          </a:xfrm>
          <a:prstGeom prst="ellipse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24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206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C00"/>
                </a:solidFill>
              </a:defRPr>
            </a:pPr>
            <a:r>
              <a:t>스왑시장 동향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7548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IRS·CRS 금리 전구간 상승세. 스태그플레이션 위험 대두. FOMC 이후 한미 금리차에 따른 스왑 포인트 변동성 확대 예상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KB국민은행 자본시장사업그룹  |  문정희·이민혁 이코노미스트  |  AI자산운용센터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