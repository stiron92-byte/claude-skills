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3E50"/>
                </a:solidFill>
                <a:latin typeface="Arial"/>
              </a:rPr>
              <a:t>분기별 매출 추이 (조원)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매출(조)</c:v>
                </c:pt>
              </c:strCache>
            </c:strRef>
          </c:tx>
          <c:spPr>
            <a:solidFill>
              <a:srgbClr val="1976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79.1</c:v>
                </c:pt>
                <c:pt idx="1">
                  <c:v>81.6</c:v>
                </c:pt>
                <c:pt idx="2">
                  <c:v>79.1</c:v>
                </c:pt>
                <c:pt idx="3">
                  <c:v>93.8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3E50"/>
                </a:solidFill>
                <a:latin typeface="Arial"/>
              </a:rPr>
              <a:t>분기별 영업이익 추이 (조원)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영업이익(조)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10.4</c:v>
                </c:pt>
                <c:pt idx="2">
                  <c:v>12.2</c:v>
                </c:pt>
                <c:pt idx="3">
                  <c:v>20.1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A3D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(005930)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분석 보고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A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타이밍 &amp; 실적 전망 분석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3월 25일 기준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출처: Google Finance, FnGuide, 증권사 리포트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548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777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191,800원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0" y="1188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+1.11% (오늘)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시가총액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1,243조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0" y="2286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코스피 1위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29.00배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43600" y="3383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12M Trailing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52주 변동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4069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52,900 ~ 223,000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0" y="4480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고점 대비 -14.0%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3D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타이밍 분석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분할 매수 유효 구간 (단, 단기 변동성 주의)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338328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17320"/>
            <a:ext cx="411480" cy="411480"/>
          </a:xfrm>
          <a:prstGeom prst="ellipse">
            <a:avLst/>
          </a:prstGeom>
          <a:solidFill>
            <a:srgbClr val="0A3D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위치 분석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52주 저점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52,900원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01168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97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01168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191,800원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52주 고점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0040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223,000원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" y="2560320"/>
            <a:ext cx="356616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/>
          <p:cNvSpPr/>
          <p:nvPr/>
        </p:nvSpPr>
        <p:spPr>
          <a:xfrm>
            <a:off x="731520" y="2560320"/>
            <a:ext cx="2907792" cy="13716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834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고점 대비 -14.0% | 52주 범위 상위 81.6%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31520" y="3200400"/>
            <a:ext cx="54864" cy="2743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증권사 평균 목표가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1945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252,720원 (상승여력 +31.8%)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31520" y="3611880"/>
            <a:ext cx="54864" cy="274320"/>
          </a:xfrm>
          <a:prstGeom prst="rect">
            <a:avLst/>
          </a:prstGeom>
          <a:solidFill>
            <a:srgbClr val="0A3D6B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외국인 지분율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19456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49.21% (안정적 수준 유지)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31520" y="4023360"/>
            <a:ext cx="54864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지지선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19456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170,000원대 / 저항선 200,000원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1234440"/>
            <a:ext cx="3931920" cy="15544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1234440"/>
            <a:ext cx="54864" cy="1554480"/>
          </a:xfrm>
          <a:prstGeom prst="rect">
            <a:avLst/>
          </a:prstGeom>
          <a:solidFill>
            <a:srgbClr val="1A6B3C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4406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긍정 요인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502920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목표가 대비 31.8% 상승여력 (컨센서스 252,720원)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사상 최대 실적 (영업이익 43.6조) 달성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2026E Forward PER 약 8배로 역사적 저평가 구간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754880" y="3063240"/>
            <a:ext cx="3931920" cy="15544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754880" y="3063240"/>
            <a:ext cx="54864" cy="155448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46120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4406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요인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502920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고점(223,000원) 대비 -14% 조정 진행 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외국인 순매도 전환 → 수급 불안 시그널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중동 전쟁 리스크에 따른 글로벌 변동성 확대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Google Finance (2026.3.25), FnGuide 컨센서스, 증권사 리포트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3D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실적 분석 (2025년)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 분기 영업이익 20.1조 사상 첫 돌파 | 연간 매출 333.6조 역대 최대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118872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00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순이익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4008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19.36조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+155.4% YoY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2402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순이익률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24028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20.64%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24028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+106.4% YoY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8404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EBITDA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84048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33.41조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84048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+94.0% YoY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4406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44068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2,910원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44068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6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+160.7% YoY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0408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04088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11.21%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Google Finance 재무 데이터 (2025년 12월 기준)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3D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전망 &amp; 리스크 요인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7490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43000"/>
            <a:ext cx="411480" cy="411480"/>
          </a:xfrm>
          <a:prstGeom prst="ellipse">
            <a:avLst/>
          </a:prstGeom>
          <a:solidFill>
            <a:srgbClr val="1A6B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동력 (Bull Case)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1737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/ AI 반도체 수요 폭발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HBM4 양산 본격화. AI 데이터센터 투자 확대로 메모리 수요 급증 전망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7240" y="24505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슈퍼사이클 진입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26791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DRAM/NAND 가격 상승세 지속. 2026E 영업이익 컨센서스 148~200조원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7240" y="31638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증권사 Buy 컨센서스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33924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목표가 252,720원 (평점 4.0/5.0). 키움 260K, 한투 270K, 대신 270K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7240" y="3877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잉여현금흐름 56.72조 보유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41056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대차대조표 건전. 총자기자본 436조, 현금 125.85조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914400"/>
            <a:ext cx="3931920" cy="3749040"/>
          </a:xfrm>
          <a:prstGeom prst="rect">
            <a:avLst/>
          </a:prstGeom>
          <a:solidFill>
            <a:srgbClr val="FBE9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914400"/>
            <a:ext cx="393192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Shape 16"/>
          <p:cNvSpPr/>
          <p:nvPr/>
        </p:nvSpPr>
        <p:spPr>
          <a:xfrm>
            <a:off x="5029200" y="114300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3444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57784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요인 (Bear Case)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074920" y="1737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HBM4 수율 이슈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7492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수율 60~65%로 SK하이닉스(80~90%) 대비 열위. 양산 지연 시 점유율 타격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074920" y="24505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파운드리 기술 격차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074920" y="26791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TSMC 대비 첨단 공정 기술 격차 지속. 머스크 테라팹 투자 등 경쟁 심화 우려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074920" y="31638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외국인 매도세 전환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074920" y="33924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외국인 순매도 지속. 고점(223K) 대비 -14% 조정 진행 중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5074920" y="3877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매크로 리스크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074920" y="41056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중동 전쟁 지속, 환율 변동성 확대, AI 투자 사이클 과열 시 수요 둔화 가능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키움/한투/대신증권 리포트 (2026.02~03), Google Finance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3D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판단 요약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05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의견: 분할 매수 접근 권장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1463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현재가 191,800원은 증권사 컨센서스(252,720원) 대비 31.8% 상승여력 존재. 사상 최대 실적(영업이익 43.6조)을 기록한 가운데 2026년 메모리 슈퍼사이클 진입 전망. 단, 고점 대비 조정 구간이므로 일시 매수보다 분할 접근이 적절.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매수 전략 (안)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50292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73152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매수 가격대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185,000 ~ 190,000원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기술적 지지선 부근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175,000 ~ 180,000원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이동평균선 수렴 구간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165,000 ~ 170,000원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강력 지지선 (바닥 확인 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760720" y="2286000"/>
            <a:ext cx="2926080" cy="20116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94360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 요약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0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현재가 / 목표가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315200" y="2788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191,800 / 252,720원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943600" y="3063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 (Trailing)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315200" y="3063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29.0배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94360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315200" y="3337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2.97배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943600" y="3611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315200" y="3611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11.21%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943600" y="3886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배당수익률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315200" y="3886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0.87%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67E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자료는 공개된 데이터를 기반으로 한 분석 참고자료이며, 투자 권유가 아닙니다. 최종 투자 판단은 본인의 책임 하에 이루어져야 합니다. 시장 상황에 따라 전망이 변경될 수 있습니다.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삼성전자 투자 분석 보고</dc:title>
  <dc:subject>PptxGenJS Presentation</dc:subject>
  <dc:creator>Investment Analysis</dc:creator>
  <cp:lastModifiedBy>Investment Analysis</cp:lastModifiedBy>
  <cp:revision>1</cp:revision>
  <dcterms:created xsi:type="dcterms:W3CDTF">2026-03-25T04:14:48Z</dcterms:created>
  <dcterms:modified xsi:type="dcterms:W3CDTF">2026-03-25T04:14:48Z</dcterms:modified>
</cp:coreProperties>
</file>